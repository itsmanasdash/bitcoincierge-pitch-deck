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jpeg"/><Relationship Id="rId3" Type="http://schemas.openxmlformats.org/officeDocument/2006/relationships/image" Target="../media/image-8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2652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0"/>
            <a:ext cx="8046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Building or planning</a:t>
            </a:r>
            <a:endParaRPr lang="en-US" sz="5600" dirty="0"/>
          </a:p>
          <a:p>
            <a:pPr algn="l" indent="0" marL="0">
              <a:buNone/>
            </a:pPr>
            <a:r>
              <a:rPr lang="en-US" sz="56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Bitcoin startup?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548640" y="333756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26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🙋  Raise your hand.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4069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Boy! You've chosen an interesting problem for yourself.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O N G R A T U L A T I O N S .   Y O U   C H O S E . . 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868680"/>
            <a:ext cx="8595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HARDEST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274320" y="1920240"/>
            <a:ext cx="8595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265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BOSS BATTLE.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2286000" y="33375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Level: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166360" y="3401568"/>
            <a:ext cx="2011680" cy="201168"/>
          </a:xfrm>
          <a:prstGeom prst="rect">
            <a:avLst/>
          </a:prstGeom>
          <a:solidFill>
            <a:srgbClr val="F26522"/>
          </a:solidFill>
          <a:ln/>
        </p:spPr>
      </p:sp>
      <p:sp>
        <p:nvSpPr>
          <p:cNvPr id="8" name="Text 6"/>
          <p:cNvSpPr/>
          <p:nvPr/>
        </p:nvSpPr>
        <p:spPr>
          <a:xfrm>
            <a:off x="5212080" y="340156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500%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886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don't care. Marketing doesn't work. Distribution is broken.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0" y="274320"/>
            <a:ext cx="4572000" cy="38404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206240"/>
            <a:ext cx="9144000" cy="914400"/>
          </a:xfrm>
          <a:prstGeom prst="rect">
            <a:avLst/>
          </a:prstGeom>
          <a:solidFill>
            <a:srgbClr val="111111">
              <a:alpha val="9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1097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26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EX-BITCOINER PROBLEM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425196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Came for the bull. Clocked out for the bear.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457200" y="46634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bitcoiners stop caring in the bear cycle — which we are in.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0" y="274320"/>
            <a:ext cx="5852160" cy="4206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731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26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NORMIE PROBLEM</a:t>
            </a:r>
            <a:endParaRPr lang="en-US" sz="900" dirty="0"/>
          </a:p>
        </p:txBody>
      </p:sp>
      <p:sp>
        <p:nvSpPr>
          <p:cNvPr id="4" name="Shape 1"/>
          <p:cNvSpPr/>
          <p:nvPr/>
        </p:nvSpPr>
        <p:spPr>
          <a:xfrm>
            <a:off x="0" y="4526280"/>
            <a:ext cx="9144000" cy="621792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45720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other 1.4 billion Indians? They've never thought about Bitcoin. Not once.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2652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300" kern="0" dirty="0">
                <a:solidFill>
                  <a:srgbClr val="F26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A R K E T I N G   C H A N N E L   1   /   3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Want to run Bitcoin ads?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645920" y="1234440"/>
            <a:ext cx="5852160" cy="1417320"/>
          </a:xfrm>
          <a:prstGeom prst="rect">
            <a:avLst/>
          </a:prstGeom>
          <a:solidFill>
            <a:srgbClr val="1A0000"/>
          </a:solidFill>
          <a:ln w="635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45920" y="1234440"/>
            <a:ext cx="5852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REJECTED.</a:t>
            </a:r>
            <a:endParaRPr lang="en-US" sz="7200" dirty="0"/>
          </a:p>
        </p:txBody>
      </p:sp>
      <p:sp>
        <p:nvSpPr>
          <p:cNvPr id="7" name="Shape 5"/>
          <p:cNvSpPr/>
          <p:nvPr/>
        </p:nvSpPr>
        <p:spPr>
          <a:xfrm>
            <a:off x="457200" y="2852928"/>
            <a:ext cx="8229600" cy="411480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9169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291693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383280" y="2916936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 advertising requires certification &amp; ongoing compliance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3355848"/>
            <a:ext cx="8229600" cy="411480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34198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341985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/ Instagram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83280" y="3419856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 ads require prior written permission. Often denied.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3858768"/>
            <a:ext cx="8229600" cy="411480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9227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60120" y="392277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Twitter / X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83280" y="3922776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Allowed but requires financial services certification per market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2652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300" kern="0" dirty="0">
                <a:solidFill>
                  <a:srgbClr val="F26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A R K E T I N G   C H A N N E L   2   /   3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 organic? 📱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2697480" cy="3200400"/>
          </a:xfrm>
          <a:prstGeom prst="rect">
            <a:avLst/>
          </a:prstGeom>
          <a:solidFill>
            <a:srgbClr val="0F0F0F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25880"/>
            <a:ext cx="2697480" cy="5029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508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48640" y="22402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CAC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274320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Bitcoin-curious user is 3–5× a regular fintech customer — a niche audience in a restricted channel.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0" y="1325880"/>
            <a:ext cx="2697480" cy="3200400"/>
          </a:xfrm>
          <a:prstGeom prst="rect">
            <a:avLst/>
          </a:prstGeom>
          <a:solidFill>
            <a:srgbClr val="0F0F0F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0" y="1325880"/>
            <a:ext cx="2697480" cy="5029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2" name="Text 10"/>
          <p:cNvSpPr/>
          <p:nvPr/>
        </p:nvSpPr>
        <p:spPr>
          <a:xfrm>
            <a:off x="3383280" y="1508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383280" y="22402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Slop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383280" y="274320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 are flooded with AI-generated content. Organic reach is dying. Your post disappears in seconds.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35040" y="1325880"/>
            <a:ext cx="2697480" cy="3200400"/>
          </a:xfrm>
          <a:prstGeom prst="rect">
            <a:avLst/>
          </a:prstGeom>
          <a:solidFill>
            <a:srgbClr val="0F0F0F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35040" y="1325880"/>
            <a:ext cx="2697480" cy="5029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0" y="1508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😮‍💨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217920" y="22402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Fatigue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217920" y="274320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have learned to scroll past anything that looks like marketing. Especially in crypto.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2652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300" kern="0" dirty="0">
                <a:solidFill>
                  <a:srgbClr val="F26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A R K E T I N G   C H A N N E L   3   /   3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Pay to play? 💸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4206240" cy="3337560"/>
          </a:xfrm>
          <a:prstGeom prst="rect">
            <a:avLst/>
          </a:prstGeom>
          <a:solidFill>
            <a:srgbClr val="0F0F0F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98448"/>
            <a:ext cx="4206240" cy="5029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46304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🎙️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85800" y="217627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 Conference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2606040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i="1" dirty="0">
                <a:solidFill>
                  <a:srgbClr val="F265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$250,000+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685800" y="32735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sponsor the mainstage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85800" y="358444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 Nashville 2025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85800" y="3913632"/>
            <a:ext cx="3749040" cy="4572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402336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Coinbase. Not for your seed-stage startup.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892040" y="1298448"/>
            <a:ext cx="4206240" cy="3337560"/>
          </a:xfrm>
          <a:prstGeom prst="rect">
            <a:avLst/>
          </a:prstGeom>
          <a:solidFill>
            <a:srgbClr val="0F0F0F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92040" y="1298448"/>
            <a:ext cx="4206240" cy="5029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6" name="Text 14"/>
          <p:cNvSpPr/>
          <p:nvPr/>
        </p:nvSpPr>
        <p:spPr>
          <a:xfrm>
            <a:off x="5120640" y="146304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🌟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5120640" y="217627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 Influencer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120640" y="2606040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i="1" dirty="0">
                <a:solidFill>
                  <a:srgbClr val="F265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₹5L – ₹25L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5120640" y="32735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campaign, per creator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120640" y="358444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Indian Bitcoin creators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120640" y="3913632"/>
            <a:ext cx="3749040" cy="4572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2" name="Text 20"/>
          <p:cNvSpPr/>
          <p:nvPr/>
        </p:nvSpPr>
        <p:spPr>
          <a:xfrm>
            <a:off x="5120640" y="402336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guaranteed conversion. No attribution. No retargeting.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300" kern="0" dirty="0">
                <a:solidFill>
                  <a:srgbClr val="F26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U R R E N T   W O R K A R O U N D S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411480" y="475488"/>
            <a:ext cx="50292" cy="1005840"/>
          </a:xfrm>
          <a:prstGeom prst="rect">
            <a:avLst/>
          </a:prstGeom>
          <a:solidFill>
            <a:srgbClr val="F26522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475488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i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founders already</a:t>
            </a:r>
            <a:endParaRPr lang="en-US" sz="3000" dirty="0"/>
          </a:p>
          <a:p>
            <a:pPr algn="l" indent="0" marL="0">
              <a:buNone/>
            </a:pPr>
            <a:r>
              <a:rPr lang="en-US" sz="3000" i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figured it out.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645920"/>
            <a:ext cx="2743200" cy="31546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645920"/>
            <a:ext cx="2743200" cy="50292"/>
          </a:xfrm>
          <a:prstGeom prst="rect">
            <a:avLst/>
          </a:prstGeom>
          <a:solidFill>
            <a:srgbClr val="F2652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43000" y="1783080"/>
            <a:ext cx="1188720" cy="11887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30175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B4I Community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02920" y="33832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26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powers  ↓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02920" y="367588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6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 Keeper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02920" y="4041648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Keeper built B4I to demo their custody product to a warm, pre-qualified Bitcoin audience — without paying for ads.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3291840" y="1645920"/>
            <a:ext cx="2743200" cy="31546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91840" y="1645920"/>
            <a:ext cx="2743200" cy="50292"/>
          </a:xfrm>
          <a:prstGeom prst="rect">
            <a:avLst/>
          </a:prstGeom>
          <a:solidFill>
            <a:srgbClr val="F26522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069080" y="1783080"/>
            <a:ext cx="1188720" cy="11887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429000" y="30175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 Bharat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3429000" y="33832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26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powers  ↓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3429000" y="367588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6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SwapSo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3429000" y="4041648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SwapSo's founding team built Bitcoin Bharat so college students could discover and use SwapSo through community first.</a:t>
            </a:r>
            <a:endParaRPr lang="en-US" sz="800" dirty="0"/>
          </a:p>
        </p:txBody>
      </p:sp>
      <p:sp>
        <p:nvSpPr>
          <p:cNvPr id="19" name="Shape 15"/>
          <p:cNvSpPr/>
          <p:nvPr/>
        </p:nvSpPr>
        <p:spPr>
          <a:xfrm>
            <a:off x="6217920" y="1645920"/>
            <a:ext cx="2743200" cy="31546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217920" y="1645920"/>
            <a:ext cx="2743200" cy="50292"/>
          </a:xfrm>
          <a:prstGeom prst="rect">
            <a:avLst/>
          </a:prstGeom>
          <a:solidFill>
            <a:srgbClr val="F26522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995160" y="1783080"/>
            <a:ext cx="1188720" cy="118872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355080" y="30175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Bitcoinwaale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6355080" y="33832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26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powers  ↓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6355080" y="367588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6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GetBit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6355080" y="4041648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GetBit created Bitcoinwaale — a Bitcoin education community — so more Indians discover GetBit through learning, not ads.</a:t>
            </a:r>
            <a:endParaRPr lang="en-US" sz="800" dirty="0"/>
          </a:p>
        </p:txBody>
      </p:sp>
      <p:sp>
        <p:nvSpPr>
          <p:cNvPr id="26" name="Shape 21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EDEBE6"/>
          </a:solidFill>
          <a:ln/>
        </p:spPr>
      </p:sp>
      <p:sp>
        <p:nvSpPr>
          <p:cNvPr id="27" name="Text 22"/>
          <p:cNvSpPr/>
          <p:nvPr/>
        </p:nvSpPr>
        <p:spPr>
          <a:xfrm>
            <a:off x="457200" y="4992624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bitcoincierge.in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300" kern="0" dirty="0">
                <a:solidFill>
                  <a:srgbClr val="F26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U T   T H I S   M O D E L   H A S   P R O B L E M S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411480" y="475488"/>
            <a:ext cx="50292" cy="1005840"/>
          </a:xfrm>
          <a:prstGeom prst="rect">
            <a:avLst/>
          </a:prstGeom>
          <a:solidFill>
            <a:srgbClr val="F26522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475488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i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Building your own community</a:t>
            </a:r>
            <a:endParaRPr lang="en-US" sz="3000" dirty="0"/>
          </a:p>
          <a:p>
            <a:pPr algn="l" indent="0" marL="0">
              <a:buNone/>
            </a:pPr>
            <a:r>
              <a:rPr lang="en-US" sz="3000" i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breaks at scale.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416052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691640"/>
            <a:ext cx="50292" cy="914400"/>
          </a:xfrm>
          <a:prstGeom prst="rect">
            <a:avLst/>
          </a:prstGeom>
          <a:solidFill>
            <a:srgbClr val="F26522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70432" y="178308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time &amp; energy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170432" y="2130552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Organising meetups, community management, 1-on-1 guidance, customer education — all diverts from building the product.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828032" y="1691640"/>
            <a:ext cx="416052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28032" y="1691640"/>
            <a:ext cx="50292" cy="914400"/>
          </a:xfrm>
          <a:prstGeom prst="rect">
            <a:avLst/>
          </a:prstGeom>
          <a:solidFill>
            <a:srgbClr val="F26522"/>
          </a:solidFill>
          <a:ln/>
        </p:spPr>
      </p:sp>
      <p:sp>
        <p:nvSpPr>
          <p:cNvPr id="12" name="Text 10"/>
          <p:cNvSpPr/>
          <p:nvPr/>
        </p:nvSpPr>
        <p:spPr>
          <a:xfrm>
            <a:off x="4992624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541264" y="178308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presence across cities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541264" y="2130552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city has its own nuance. Language, examples, culture — you can't copy-paste what works in Bangalore to Delhi.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2743200"/>
            <a:ext cx="416052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743200"/>
            <a:ext cx="50292" cy="914400"/>
          </a:xfrm>
          <a:prstGeom prst="rect">
            <a:avLst/>
          </a:prstGeom>
          <a:solidFill>
            <a:srgbClr val="F26522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70432" y="283464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&amp; hiring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170432" y="3182112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venues, hiring educators, speakers, managing invites, attendance — a full-time job with no playbook.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828032" y="2743200"/>
            <a:ext cx="416052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28032" y="2743200"/>
            <a:ext cx="50292" cy="914400"/>
          </a:xfrm>
          <a:prstGeom prst="rect">
            <a:avLst/>
          </a:prstGeom>
          <a:solidFill>
            <a:srgbClr val="F26522"/>
          </a:solidFill>
          <a:ln/>
        </p:spPr>
      </p:sp>
      <p:sp>
        <p:nvSpPr>
          <p:cNvPr id="22" name="Text 20"/>
          <p:cNvSpPr/>
          <p:nvPr/>
        </p:nvSpPr>
        <p:spPr>
          <a:xfrm>
            <a:off x="4992624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✈️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541264" y="283464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&amp; accommodation budget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541264" y="3182112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 flying in for every city activation. It burns cash fast with no direct attribution to revenue.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3794760"/>
            <a:ext cx="82296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3794760"/>
            <a:ext cx="50292" cy="914400"/>
          </a:xfrm>
          <a:prstGeom prst="rect">
            <a:avLst/>
          </a:prstGeom>
          <a:solidFill>
            <a:srgbClr val="F26522"/>
          </a:solidFill>
          <a:ln/>
        </p:spPr>
      </p:sp>
      <p:sp>
        <p:nvSpPr>
          <p:cNvPr id="27" name="Text 25"/>
          <p:cNvSpPr/>
          <p:nvPr/>
        </p:nvSpPr>
        <p:spPr>
          <a:xfrm>
            <a:off x="621792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170432" y="3886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attribution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170432" y="4233672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came? Who touched the product? Who activated? Who's a warm lead? Without tracking, it's all vanity.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EDEBE6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4992624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bitcoincierge.in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2652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300" kern="0" dirty="0">
                <a:solidFill>
                  <a:srgbClr val="F26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h e   P r o b l e m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64008" cy="2926080"/>
          </a:xfrm>
          <a:prstGeom prst="rect">
            <a:avLst/>
          </a:prstGeom>
          <a:solidFill>
            <a:srgbClr val="F26522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914400"/>
            <a:ext cx="80467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IRL events &amp; community management</a:t>
            </a:r>
            <a:endParaRPr lang="en-US" sz="3400" dirty="0"/>
          </a:p>
          <a:p>
            <a:pPr algn="l" indent="0" marL="0">
              <a:buNone/>
            </a:pPr>
            <a:r>
              <a:rPr lang="en-US" sz="3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are the most effective way</a:t>
            </a:r>
            <a:endParaRPr lang="en-US" sz="3400" dirty="0"/>
          </a:p>
          <a:p>
            <a:pPr algn="l" indent="0" marL="0">
              <a:buNone/>
            </a:pPr>
            <a:r>
              <a:rPr lang="en-US" sz="3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get to a billion+ Indians.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731520" y="2788920"/>
            <a:ext cx="8046720" cy="50292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9260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i="1" dirty="0">
                <a:solidFill>
                  <a:srgbClr val="F265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But Bitcoin products and services lack the</a:t>
            </a:r>
            <a:endParaRPr lang="en-US" sz="2800" dirty="0"/>
          </a:p>
          <a:p>
            <a:pPr algn="l" indent="0" marL="0">
              <a:buNone/>
            </a:pPr>
            <a:r>
              <a:rPr lang="en-US" sz="2800" i="1" dirty="0">
                <a:solidFill>
                  <a:srgbClr val="F265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execution &amp; operations muscle to actualise it.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4892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F26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bitcoincierge.in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26522"/>
          </a:solidFill>
          <a:ln/>
        </p:spPr>
      </p:sp>
      <p:sp>
        <p:nvSpPr>
          <p:cNvPr id="3" name="Shape 1"/>
          <p:cNvSpPr/>
          <p:nvPr/>
        </p:nvSpPr>
        <p:spPr>
          <a:xfrm>
            <a:off x="6766560" y="64008"/>
            <a:ext cx="2377440" cy="4754880"/>
          </a:xfrm>
          <a:prstGeom prst="rect">
            <a:avLst/>
          </a:prstGeom>
          <a:solidFill>
            <a:srgbClr val="1C120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008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Bitcoincierge</a:t>
            </a:r>
            <a:endParaRPr lang="en-US" sz="68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2286000" cy="50292"/>
          </a:xfrm>
          <a:prstGeom prst="rect">
            <a:avLst/>
          </a:prstGeom>
          <a:solidFill>
            <a:srgbClr val="F2652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874520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IRL Event and Community Management.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Bitcoin brands. In India.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88036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26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e m o s .   W o r k s h o p s .   M e e t u p s 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0" y="4754880"/>
            <a:ext cx="9144000" cy="393192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4773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SofB Accelerator Pitch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4773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300" kern="0" dirty="0">
                <a:solidFill>
                  <a:srgbClr val="F26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u r   S o l u t i o n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411480" y="502920"/>
            <a:ext cx="50292" cy="1078992"/>
          </a:xfrm>
          <a:prstGeom prst="rect">
            <a:avLst/>
          </a:prstGeom>
          <a:solidFill>
            <a:srgbClr val="F26522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502920"/>
            <a:ext cx="80467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i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IRL event &amp; community management</a:t>
            </a:r>
            <a:endParaRPr lang="en-US" sz="3000" dirty="0"/>
          </a:p>
          <a:p>
            <a:pPr algn="l" indent="0" marL="0">
              <a:buNone/>
            </a:pPr>
            <a:r>
              <a:rPr lang="en-US" sz="3000" i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 a service — for Bitcoin brands.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755648"/>
            <a:ext cx="8229600" cy="658368"/>
          </a:xfrm>
          <a:prstGeom prst="rect">
            <a:avLst/>
          </a:prstGeom>
          <a:solidFill>
            <a:srgbClr val="F2652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783080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Plug in on Day 1. Demo, acquire, and activate users — without building a team, traveling, or starting a community from zero.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2606040"/>
            <a:ext cx="196596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21792" y="2743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21792" y="3337560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 &amp; Logistics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21792" y="3794760"/>
            <a:ext cx="166420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handle booking, setup, and operations across 7 cities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542032" y="2606040"/>
            <a:ext cx="196596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706624" y="2743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706624" y="3337560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Audience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706624" y="3794760"/>
            <a:ext cx="166420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Pre-qualified participants from our community — not a random crowd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26864" y="2606040"/>
            <a:ext cx="196596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91456" y="2743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🎤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791456" y="3337560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Mentors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91456" y="3794760"/>
            <a:ext cx="166420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Bitcoin-native coaches, hand-picked or approved by you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711696" y="2606040"/>
            <a:ext cx="196596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876288" y="2743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876288" y="3337560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Reports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876288" y="3794760"/>
            <a:ext cx="166420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Post-event summary: attendance, demos, leads generated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EDEBE6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992624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bitcoincierge.in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300" kern="0" dirty="0">
                <a:solidFill>
                  <a:srgbClr val="F26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h y   N o w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411480" y="502920"/>
            <a:ext cx="50292" cy="749808"/>
          </a:xfrm>
          <a:prstGeom prst="rect">
            <a:avLst/>
          </a:prstGeom>
          <a:solidFill>
            <a:srgbClr val="F26522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502920"/>
            <a:ext cx="8046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i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big forces are on our side.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444752"/>
            <a:ext cx="4206240" cy="33375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600200"/>
            <a:ext cx="475488" cy="475488"/>
          </a:xfrm>
          <a:prstGeom prst="rect">
            <a:avLst/>
          </a:prstGeom>
          <a:solidFill>
            <a:srgbClr val="F26522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00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219456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 mentors &amp; community are seeded in major Indian cities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880360"/>
            <a:ext cx="3840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Thanks to years of work by Bitshala and other Bitcoin communities, a dense mentor network exists across Delhi, Mumbai, Bangalore, Hyderabad, Chennai, Ahmedabad, and Goa — trained, ready to demo and onboard.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892040" y="1444752"/>
            <a:ext cx="4206240" cy="33375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74920" y="1600200"/>
            <a:ext cx="475488" cy="475488"/>
          </a:xfrm>
          <a:prstGeom prst="rect">
            <a:avLst/>
          </a:prstGeom>
          <a:solidFill>
            <a:srgbClr val="F26522"/>
          </a:solidFill>
          <a:ln/>
        </p:spPr>
      </p:sp>
      <p:sp>
        <p:nvSpPr>
          <p:cNvPr id="12" name="Text 10"/>
          <p:cNvSpPr/>
          <p:nvPr/>
        </p:nvSpPr>
        <p:spPr>
          <a:xfrm>
            <a:off x="5074920" y="1600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074920" y="219456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pendulum is swinging back offline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74920" y="2880360"/>
            <a:ext cx="3840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are burned out by social media and AI-generated content. The new generation wants to experience things in person. The utility of being terminally online is decreasing fast — and we meet people exactly where they are going next.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EDEBE6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4992624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bitcoincierge.in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300" kern="0" dirty="0">
                <a:solidFill>
                  <a:srgbClr val="F26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i t c o i n   m e n t o r s   a n d   c o m m u n i t y   a r e   s e e d e d   i n   m a j o r   c i t i e s</a:t>
            </a:r>
            <a:endParaRPr lang="en-US" sz="8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42977"/>
            <a:ext cx="6350508" cy="582564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030675" y="1554480"/>
            <a:ext cx="164592" cy="164592"/>
          </a:xfrm>
          <a:prstGeom prst="oval">
            <a:avLst/>
          </a:prstGeom>
          <a:solidFill>
            <a:srgbClr val="F2652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240987" y="1563624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Delhi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3102559" y="2691079"/>
            <a:ext cx="164592" cy="164592"/>
          </a:xfrm>
          <a:prstGeom prst="oval">
            <a:avLst/>
          </a:prstGeom>
          <a:solidFill>
            <a:srgbClr val="F2652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096719" y="2700223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Ahmedabad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3298241" y="3117190"/>
            <a:ext cx="164592" cy="164592"/>
          </a:xfrm>
          <a:prstGeom prst="oval">
            <a:avLst/>
          </a:prstGeom>
          <a:solidFill>
            <a:srgbClr val="F2652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292401" y="3126334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3407054" y="3613709"/>
            <a:ext cx="164592" cy="164592"/>
          </a:xfrm>
          <a:prstGeom prst="oval">
            <a:avLst/>
          </a:prstGeom>
          <a:solidFill>
            <a:srgbClr val="F2652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401214" y="3622853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4664354" y="3392424"/>
            <a:ext cx="164592" cy="164592"/>
          </a:xfrm>
          <a:prstGeom prst="oval">
            <a:avLst/>
          </a:prstGeom>
          <a:solidFill>
            <a:srgbClr val="F2652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74666" y="3401568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Hyderabad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4114800" y="3833165"/>
            <a:ext cx="164592" cy="164592"/>
          </a:xfrm>
          <a:prstGeom prst="oval">
            <a:avLst/>
          </a:prstGeom>
          <a:solidFill>
            <a:srgbClr val="F2652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325112" y="3842309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Bangalore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4454957" y="4316882"/>
            <a:ext cx="164592" cy="164592"/>
          </a:xfrm>
          <a:prstGeom prst="oval">
            <a:avLst/>
          </a:prstGeom>
          <a:solidFill>
            <a:srgbClr val="F2652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665269" y="4326026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Chennai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228600" y="219456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F265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 Cities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i="1" dirty="0">
                <a:solidFill>
                  <a:srgbClr val="F265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Active</a:t>
            </a:r>
            <a:endParaRPr lang="en-US" sz="2800" dirty="0"/>
          </a:p>
        </p:txBody>
      </p:sp>
      <p:sp>
        <p:nvSpPr>
          <p:cNvPr id="19" name="Text 16"/>
          <p:cNvSpPr/>
          <p:nvPr/>
        </p:nvSpPr>
        <p:spPr>
          <a:xfrm>
            <a:off x="91440" y="310896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Mentors present, community active,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run activations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91440" y="39776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26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Expanding to</a:t>
            </a:r>
            <a:endParaRPr lang="en-US" sz="800" dirty="0"/>
          </a:p>
          <a:p>
            <a:pPr algn="ctr" indent="0" marL="0">
              <a:buNone/>
            </a:pPr>
            <a:r>
              <a:rPr lang="en-US" sz="800" i="1" dirty="0">
                <a:solidFill>
                  <a:srgbClr val="F26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cities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EDEBE6"/>
          </a:solidFill>
          <a:ln/>
        </p:spPr>
      </p:sp>
      <p:sp>
        <p:nvSpPr>
          <p:cNvPr id="22" name="Text 19"/>
          <p:cNvSpPr/>
          <p:nvPr/>
        </p:nvSpPr>
        <p:spPr>
          <a:xfrm>
            <a:off x="457200" y="4992624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bitcoincierge.in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9120" cy="5143500"/>
          </a:xfrm>
          <a:prstGeom prst="rect">
            <a:avLst/>
          </a:prstGeom>
          <a:solidFill>
            <a:srgbClr val="050A1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389120" cy="6400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2743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📱 📱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🤖 🤖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📲 📲 📲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2834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AI-generated content flood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321868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Crypto ad restrictions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360273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Doomscrolling &amp; fatigue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398678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Low ROAS, high burnout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15968" y="0"/>
            <a:ext cx="64008" cy="5143500"/>
          </a:xfrm>
          <a:prstGeom prst="rect">
            <a:avLst/>
          </a:prstGeom>
          <a:solidFill>
            <a:srgbClr val="F26522"/>
          </a:solidFill>
          <a:ln/>
        </p:spPr>
      </p:sp>
      <p:sp>
        <p:nvSpPr>
          <p:cNvPr id="11" name="Text 9"/>
          <p:cNvSpPr/>
          <p:nvPr/>
        </p:nvSpPr>
        <p:spPr>
          <a:xfrm>
            <a:off x="4023360" y="23317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265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663440" y="2743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F26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63440" y="777240"/>
            <a:ext cx="4114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🙌 🙌 🙌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🤝 🤝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⚡ ⚡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663440" y="278892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pendulum is swinging</a:t>
            </a:r>
            <a:endParaRPr lang="en-US" sz="1800" dirty="0"/>
          </a:p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 offline.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663440" y="3657600"/>
            <a:ext cx="41148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want to meet in person. They want to hold the hardware. They want to feel the experience — not scroll past another post about it.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300" kern="0" dirty="0">
                <a:solidFill>
                  <a:srgbClr val="F26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h e   M a r k e t   A n d   T r a c t i o n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411480" y="475488"/>
            <a:ext cx="50292" cy="1005840"/>
          </a:xfrm>
          <a:prstGeom prst="rect">
            <a:avLst/>
          </a:prstGeom>
          <a:solidFill>
            <a:srgbClr val="F26522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475488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i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India is open to Bitcoin products.</a:t>
            </a:r>
            <a:endParaRPr lang="en-US" sz="2800" dirty="0"/>
          </a:p>
          <a:p>
            <a:pPr algn="l" indent="0" marL="0">
              <a:buNone/>
            </a:pPr>
            <a:r>
              <a:rPr lang="en-US" sz="2800" i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are just getting started.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664208"/>
            <a:ext cx="2633472" cy="1261872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21792" y="1737360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i="1" dirty="0">
                <a:solidFill>
                  <a:srgbClr val="F265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1B+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21792" y="239572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Indians reachable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 IRL activations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73552" y="1664208"/>
            <a:ext cx="2633472" cy="1261872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38144" y="1737360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i="1" dirty="0">
                <a:solidFill>
                  <a:srgbClr val="F265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 / 97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3438144" y="239572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Tier-1 cities and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Tier-2 cities in India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089904" y="1664208"/>
            <a:ext cx="2633472" cy="1261872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54496" y="1737360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i="1" dirty="0">
                <a:solidFill>
                  <a:srgbClr val="F265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200+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6254496" y="239572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 products &amp;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usable in India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3108960"/>
            <a:ext cx="2633472" cy="1261872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1792" y="3182112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i="1" dirty="0">
                <a:solidFill>
                  <a:srgbClr val="F265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2,000+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621792" y="38404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community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73552" y="3108960"/>
            <a:ext cx="2633472" cy="1261872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438144" y="3182112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i="1" dirty="0">
                <a:solidFill>
                  <a:srgbClr val="F265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/ 1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3438144" y="38404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Tier-1 and Tier-2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cities we cover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089904" y="3108960"/>
            <a:ext cx="2633472" cy="1261872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254496" y="3182112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i="1" dirty="0">
                <a:solidFill>
                  <a:srgbClr val="F265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6254496" y="38404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brand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EDEBE6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992624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bitcoincierge.in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300" kern="0" dirty="0">
                <a:solidFill>
                  <a:srgbClr val="F26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o - t o - M a r k e t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411480" y="475488"/>
            <a:ext cx="50292" cy="749808"/>
          </a:xfrm>
          <a:prstGeom prst="rect">
            <a:avLst/>
          </a:prstGeom>
          <a:solidFill>
            <a:srgbClr val="F26522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475488"/>
            <a:ext cx="8046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i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Warm intro → Proof of work → Expand.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47472" y="1371600"/>
            <a:ext cx="1572768" cy="3401568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371600"/>
            <a:ext cx="1572768" cy="50292"/>
          </a:xfrm>
          <a:prstGeom prst="rect">
            <a:avLst/>
          </a:prstGeom>
          <a:solidFill>
            <a:srgbClr val="F26522"/>
          </a:solidFill>
          <a:ln/>
        </p:spPr>
      </p:sp>
      <p:sp>
        <p:nvSpPr>
          <p:cNvPr id="7" name="Text 5"/>
          <p:cNvSpPr/>
          <p:nvPr/>
        </p:nvSpPr>
        <p:spPr>
          <a:xfrm>
            <a:off x="484632" y="15087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84632" y="2011680"/>
            <a:ext cx="12984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intro or cold outreach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84632" y="2697480"/>
            <a:ext cx="129844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Bitshala refers brands outside open-source mandate. We also do cold outreach to our target list.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039112" y="1371600"/>
            <a:ext cx="1572768" cy="3401568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039112" y="1371600"/>
            <a:ext cx="1572768" cy="50292"/>
          </a:xfrm>
          <a:prstGeom prst="rect">
            <a:avLst/>
          </a:prstGeom>
          <a:solidFill>
            <a:srgbClr val="F26522"/>
          </a:solidFill>
          <a:ln/>
        </p:spPr>
      </p:sp>
      <p:sp>
        <p:nvSpPr>
          <p:cNvPr id="12" name="Text 10"/>
          <p:cNvSpPr/>
          <p:nvPr/>
        </p:nvSpPr>
        <p:spPr>
          <a:xfrm>
            <a:off x="2176272" y="15087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176272" y="2011680"/>
            <a:ext cx="12984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for First Pilot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176272" y="2697480"/>
            <a:ext cx="129844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proof of work from past partners (GetBit, Trezor, Zebpay, Ourpool)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730752" y="1371600"/>
            <a:ext cx="1572768" cy="3401568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730752" y="1371600"/>
            <a:ext cx="1572768" cy="50292"/>
          </a:xfrm>
          <a:prstGeom prst="rect">
            <a:avLst/>
          </a:prstGeom>
          <a:solidFill>
            <a:srgbClr val="F26522"/>
          </a:solidFill>
          <a:ln/>
        </p:spPr>
      </p:sp>
      <p:sp>
        <p:nvSpPr>
          <p:cNvPr id="17" name="Text 15"/>
          <p:cNvSpPr/>
          <p:nvPr/>
        </p:nvSpPr>
        <p:spPr>
          <a:xfrm>
            <a:off x="3867912" y="15087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867912" y="2011680"/>
            <a:ext cx="12984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event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867912" y="2697480"/>
            <a:ext cx="129844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sponsors one event — fixed fee only, no risk. We handle everything.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422392" y="1371600"/>
            <a:ext cx="1572768" cy="3401568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22392" y="1371600"/>
            <a:ext cx="1572768" cy="50292"/>
          </a:xfrm>
          <a:prstGeom prst="rect">
            <a:avLst/>
          </a:prstGeom>
          <a:solidFill>
            <a:srgbClr val="F26522"/>
          </a:solidFill>
          <a:ln/>
        </p:spPr>
      </p:sp>
      <p:sp>
        <p:nvSpPr>
          <p:cNvPr id="22" name="Text 20"/>
          <p:cNvSpPr/>
          <p:nvPr/>
        </p:nvSpPr>
        <p:spPr>
          <a:xfrm>
            <a:off x="5559552" y="15087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559552" y="2011680"/>
            <a:ext cx="12984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activation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559552" y="2697480"/>
            <a:ext cx="129844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joins a meetup as attendee first, sees the audience and experience.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7114032" y="1371600"/>
            <a:ext cx="1572768" cy="3401568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114032" y="1371600"/>
            <a:ext cx="1572768" cy="50292"/>
          </a:xfrm>
          <a:prstGeom prst="rect">
            <a:avLst/>
          </a:prstGeom>
          <a:solidFill>
            <a:srgbClr val="F26522"/>
          </a:solidFill>
          <a:ln/>
        </p:spPr>
      </p:sp>
      <p:sp>
        <p:nvSpPr>
          <p:cNvPr id="27" name="Text 25"/>
          <p:cNvSpPr/>
          <p:nvPr/>
        </p:nvSpPr>
        <p:spPr>
          <a:xfrm>
            <a:off x="7251192" y="15087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251192" y="2011680"/>
            <a:ext cx="12984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Retainer &amp; revenue share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251192" y="2697480"/>
            <a:ext cx="129844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proven CPA, brand moves to ongoing IRL strategy with performance fees.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EDEBE6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4992624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bitcoincierge.in</a:t>
            </a:r>
            <a:endParaRPr lang="en-US" sz="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300" kern="0" dirty="0">
                <a:solidFill>
                  <a:srgbClr val="F26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u s i n e s s   M o d e l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411480" y="475488"/>
            <a:ext cx="50292" cy="749808"/>
          </a:xfrm>
          <a:prstGeom prst="rect">
            <a:avLst/>
          </a:prstGeom>
          <a:solidFill>
            <a:srgbClr val="F26522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475488"/>
            <a:ext cx="8046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i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charge brands. Not participants.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11480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58368" y="1572768"/>
            <a:ext cx="868680" cy="292608"/>
          </a:xfrm>
          <a:prstGeom prst="rect">
            <a:avLst/>
          </a:prstGeom>
          <a:solidFill>
            <a:srgbClr val="D6E4EF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1572768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658368" y="19659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Execution Fee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58368" y="2377440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F265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₹15,000 – ₹20,000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58368" y="29535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event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58368" y="33375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6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60120" y="33375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 booking &amp; management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58368" y="36118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6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60120" y="36118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/ speaker time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58368" y="38862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6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60120" y="38862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Snacks, logistics, ops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58368" y="41605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6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60120" y="41605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Post-event summary report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800600" y="1371600"/>
            <a:ext cx="411480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01768" y="1572768"/>
            <a:ext cx="868680" cy="292608"/>
          </a:xfrm>
          <a:prstGeom prst="rect">
            <a:avLst/>
          </a:prstGeom>
          <a:solidFill>
            <a:srgbClr val="FAD9C8"/>
          </a:solidFill>
          <a:ln/>
        </p:spPr>
      </p:sp>
      <p:sp>
        <p:nvSpPr>
          <p:cNvPr id="21" name="Text 19"/>
          <p:cNvSpPr/>
          <p:nvPr/>
        </p:nvSpPr>
        <p:spPr>
          <a:xfrm>
            <a:off x="5001768" y="1572768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8A3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5001768" y="19659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/ Revenue Share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01768" y="2377440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F265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0.5% – 2%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5001768" y="29535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attributed sales or activations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001768" y="33375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6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303520" y="33375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completions / deposits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001768" y="36118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6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303520" y="36118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wallet sales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001768" y="38862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6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303520" y="38862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/ custody product sign-ups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001768" y="41605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6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303520" y="41605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Referrals through mentor network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EDEBE6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4992624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bitcoincierge.in</a:t>
            </a:r>
            <a:endParaRPr lang="en-US" sz="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300" kern="0" dirty="0">
                <a:solidFill>
                  <a:srgbClr val="F26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r o o f   o f   W o r k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411480" y="475488"/>
            <a:ext cx="50292" cy="1005840"/>
          </a:xfrm>
          <a:prstGeom prst="rect">
            <a:avLst/>
          </a:prstGeom>
          <a:solidFill>
            <a:srgbClr val="F26522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475488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i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We've already done this</a:t>
            </a:r>
            <a:endParaRPr lang="en-US" sz="3000" dirty="0"/>
          </a:p>
          <a:p>
            <a:pPr algn="l" indent="0" marL="0">
              <a:buNone/>
            </a:pPr>
            <a:r>
              <a:rPr lang="en-US" sz="3000" i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 6 brands.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664208"/>
            <a:ext cx="2606040" cy="3127248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664208"/>
            <a:ext cx="2606040" cy="50292"/>
          </a:xfrm>
          <a:prstGeom prst="rect">
            <a:avLst/>
          </a:prstGeom>
          <a:solidFill>
            <a:srgbClr val="F26522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71907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26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2148840"/>
            <a:ext cx="201168" cy="201168"/>
          </a:xfrm>
          <a:prstGeom prst="oval">
            <a:avLst/>
          </a:prstGeom>
          <a:solidFill>
            <a:srgbClr val="F26522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121408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GetBit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232257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Bitcoin-only exchange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548640" y="2606040"/>
            <a:ext cx="201168" cy="201168"/>
          </a:xfrm>
          <a:prstGeom prst="oval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578608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Ourpool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2960" y="277977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 mining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548640" y="3063240"/>
            <a:ext cx="201168" cy="201168"/>
          </a:xfrm>
          <a:prstGeom prst="oval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035808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Cryobrick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22960" y="323697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wallet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548640" y="3520440"/>
            <a:ext cx="201168" cy="201168"/>
          </a:xfrm>
          <a:prstGeom prst="oval">
            <a:avLst/>
          </a:prstGeom>
          <a:solidFill>
            <a:srgbClr val="8B5CF6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493008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Jetking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22960" y="369417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 treasury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548640" y="3977640"/>
            <a:ext cx="201168" cy="201168"/>
          </a:xfrm>
          <a:prstGeom prst="oval">
            <a:avLst/>
          </a:prstGeom>
          <a:solidFill>
            <a:srgbClr val="EC4899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3950208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Bitasha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22960" y="415137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 product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548640" y="4434840"/>
            <a:ext cx="201168" cy="201168"/>
          </a:xfrm>
          <a:prstGeom prst="oval">
            <a:avLst/>
          </a:prstGeom>
          <a:solidFill>
            <a:srgbClr val="14B8A6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4407408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Zebpay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22960" y="460857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 exchange</a:t>
            </a:r>
            <a:endParaRPr lang="en-US" sz="750" dirty="0"/>
          </a:p>
        </p:txBody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08960" y="91440"/>
            <a:ext cx="5897880" cy="5394960"/>
          </a:xfrm>
          <a:prstGeom prst="rect">
            <a:avLst/>
          </a:prstGeom>
        </p:spPr>
      </p:pic>
      <p:sp>
        <p:nvSpPr>
          <p:cNvPr id="27" name="Shape 24"/>
          <p:cNvSpPr/>
          <p:nvPr/>
        </p:nvSpPr>
        <p:spPr>
          <a:xfrm>
            <a:off x="4668634" y="1344896"/>
            <a:ext cx="292608" cy="292608"/>
          </a:xfrm>
          <a:prstGeom prst="oval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696066" y="1372328"/>
            <a:ext cx="237744" cy="237744"/>
          </a:xfrm>
          <a:prstGeom prst="oval">
            <a:avLst/>
          </a:prstGeom>
          <a:solidFill>
            <a:srgbClr val="F2652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979530" y="1344896"/>
            <a:ext cx="292608" cy="292608"/>
          </a:xfrm>
          <a:prstGeom prst="oval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5006962" y="1372328"/>
            <a:ext cx="237744" cy="237744"/>
          </a:xfrm>
          <a:prstGeom prst="oval">
            <a:avLst/>
          </a:prstGeom>
          <a:solidFill>
            <a:srgbClr val="3B82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5290426" y="1344896"/>
            <a:ext cx="292608" cy="292608"/>
          </a:xfrm>
          <a:prstGeom prst="oval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317858" y="1372328"/>
            <a:ext cx="237744" cy="237744"/>
          </a:xfrm>
          <a:prstGeom prst="oval">
            <a:avLst/>
          </a:prstGeom>
          <a:solidFill>
            <a:srgbClr val="EC489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5601322" y="1344896"/>
            <a:ext cx="292608" cy="292608"/>
          </a:xfrm>
          <a:prstGeom prst="oval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5628754" y="1372328"/>
            <a:ext cx="237744" cy="237744"/>
          </a:xfrm>
          <a:prstGeom prst="oval">
            <a:avLst/>
          </a:prstGeom>
          <a:solidFill>
            <a:srgbClr val="14B8A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473306" y="1637504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Delhi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5057659" y="3455120"/>
            <a:ext cx="292608" cy="292608"/>
          </a:xfrm>
          <a:prstGeom prst="oval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5085091" y="3482552"/>
            <a:ext cx="237744" cy="237744"/>
          </a:xfrm>
          <a:prstGeom prst="oval">
            <a:avLst/>
          </a:prstGeom>
          <a:solidFill>
            <a:srgbClr val="F2652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5368555" y="3455120"/>
            <a:ext cx="292608" cy="292608"/>
          </a:xfrm>
          <a:prstGeom prst="oval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5395987" y="3482552"/>
            <a:ext cx="237744" cy="237744"/>
          </a:xfrm>
          <a:prstGeom prst="oval">
            <a:avLst/>
          </a:prstGeom>
          <a:solidFill>
            <a:srgbClr val="3B82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551435" y="3747728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Bangalore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4143851" y="2792076"/>
            <a:ext cx="292608" cy="292608"/>
          </a:xfrm>
          <a:prstGeom prst="oval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4171283" y="2819508"/>
            <a:ext cx="237744" cy="237744"/>
          </a:xfrm>
          <a:prstGeom prst="oval">
            <a:avLst/>
          </a:prstGeom>
          <a:solidFill>
            <a:srgbClr val="3B82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4454747" y="2792076"/>
            <a:ext cx="292608" cy="292608"/>
          </a:xfrm>
          <a:prstGeom prst="oval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4482179" y="2819508"/>
            <a:ext cx="237744" cy="237744"/>
          </a:xfrm>
          <a:prstGeom prst="oval">
            <a:avLst/>
          </a:prstGeom>
          <a:solidFill>
            <a:srgbClr val="8B5C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4765643" y="2792076"/>
            <a:ext cx="292608" cy="292608"/>
          </a:xfrm>
          <a:prstGeom prst="oval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4793075" y="2819508"/>
            <a:ext cx="237744" cy="237744"/>
          </a:xfrm>
          <a:prstGeom prst="oval">
            <a:avLst/>
          </a:prstGeom>
          <a:solidFill>
            <a:srgbClr val="14B8A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3503771" y="3084684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</a:t>
            </a:r>
            <a:endParaRPr lang="en-US" sz="850" dirty="0"/>
          </a:p>
        </p:txBody>
      </p:sp>
      <p:sp>
        <p:nvSpPr>
          <p:cNvPr id="48" name="Shape 45"/>
          <p:cNvSpPr/>
          <p:nvPr/>
        </p:nvSpPr>
        <p:spPr>
          <a:xfrm>
            <a:off x="4555805" y="3251888"/>
            <a:ext cx="292608" cy="292608"/>
          </a:xfrm>
          <a:prstGeom prst="oval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4583237" y="3279320"/>
            <a:ext cx="237744" cy="237744"/>
          </a:xfrm>
          <a:prstGeom prst="oval">
            <a:avLst/>
          </a:prstGeom>
          <a:solidFill>
            <a:srgbClr val="10B98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3604829" y="3544496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</a:t>
            </a:r>
            <a:endParaRPr lang="en-US" sz="850" dirty="0"/>
          </a:p>
        </p:txBody>
      </p:sp>
      <p:sp>
        <p:nvSpPr>
          <p:cNvPr id="51" name="Shape 48"/>
          <p:cNvSpPr/>
          <p:nvPr/>
        </p:nvSpPr>
        <p:spPr>
          <a:xfrm>
            <a:off x="5778356" y="3101827"/>
            <a:ext cx="182880" cy="182880"/>
          </a:xfrm>
          <a:prstGeom prst="oval">
            <a:avLst/>
          </a:prstGeom>
          <a:solidFill>
            <a:srgbClr val="DDDDDD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4327877" y="2452332"/>
            <a:ext cx="182880" cy="182880"/>
          </a:xfrm>
          <a:prstGeom prst="oval">
            <a:avLst/>
          </a:prstGeom>
          <a:solidFill>
            <a:srgbClr val="DDDDDD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5583883" y="3957941"/>
            <a:ext cx="182880" cy="182880"/>
          </a:xfrm>
          <a:prstGeom prst="oval">
            <a:avLst/>
          </a:prstGeom>
          <a:solidFill>
            <a:srgbClr val="DDDDDD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EDEBE6"/>
          </a:solidFill>
          <a:ln/>
        </p:spPr>
      </p:sp>
      <p:sp>
        <p:nvSpPr>
          <p:cNvPr id="55" name="Text 52"/>
          <p:cNvSpPr/>
          <p:nvPr/>
        </p:nvSpPr>
        <p:spPr>
          <a:xfrm>
            <a:off x="457200" y="4992624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bitcoincierge.in</a:t>
            </a:r>
            <a:endParaRPr lang="en-US" sz="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2652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300" kern="0" dirty="0">
                <a:solidFill>
                  <a:srgbClr val="F26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h e   A s k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Let's do IRL event and</a:t>
            </a:r>
            <a:endParaRPr lang="en-US" sz="3800" dirty="0"/>
          </a:p>
          <a:p>
            <a:pPr algn="l" indent="0" marL="0">
              <a:buNone/>
            </a:pPr>
            <a:r>
              <a:rPr lang="en-US" sz="38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activation for your brand.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457200" y="2148840"/>
            <a:ext cx="8229600" cy="749808"/>
          </a:xfrm>
          <a:prstGeom prst="rect">
            <a:avLst/>
          </a:prstGeom>
          <a:solidFill>
            <a:srgbClr val="1A1A1A"/>
          </a:solidFill>
          <a:ln w="9525">
            <a:solidFill>
              <a:srgbClr val="2A2A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148840"/>
            <a:ext cx="50292" cy="749808"/>
          </a:xfrm>
          <a:prstGeom prst="rect">
            <a:avLst/>
          </a:prstGeom>
          <a:solidFill>
            <a:srgbClr val="F26522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230428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234440" y="2240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 city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34440" y="256032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any of our 7 active cities. We know the community, the venue, the right audience.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3044952"/>
            <a:ext cx="8229600" cy="749808"/>
          </a:xfrm>
          <a:prstGeom prst="rect">
            <a:avLst/>
          </a:prstGeom>
          <a:solidFill>
            <a:srgbClr val="1A1A1A"/>
          </a:solidFill>
          <a:ln w="9525">
            <a:solidFill>
              <a:srgbClr val="2A2A2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3044952"/>
            <a:ext cx="50292" cy="749808"/>
          </a:xfrm>
          <a:prstGeom prst="rect">
            <a:avLst/>
          </a:prstGeom>
          <a:solidFill>
            <a:srgbClr val="F26522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320040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234440" y="31363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 mentor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34440" y="3456432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our Bitcoin mentor network or recommend your own. We brief, manage, and pay them.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3941064"/>
            <a:ext cx="8229600" cy="749808"/>
          </a:xfrm>
          <a:prstGeom prst="rect">
            <a:avLst/>
          </a:prstGeom>
          <a:solidFill>
            <a:srgbClr val="1A1A1A"/>
          </a:solidFill>
          <a:ln w="9525">
            <a:solidFill>
              <a:srgbClr val="2A2A2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941064"/>
            <a:ext cx="50292" cy="749808"/>
          </a:xfrm>
          <a:prstGeom prst="rect">
            <a:avLst/>
          </a:prstGeom>
          <a:solidFill>
            <a:srgbClr val="F26522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409651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234440" y="403250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your first activation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234440" y="4352544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event — fixed fee only. We handle everything. You show up and demo your product.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57200" y="4892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F26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bitcoincierge.in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2652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 &amp; A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457200" y="3246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our 2-minute explainer 👆  then ask us anything.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4892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F26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bitcoincierge.in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Bitcoincierge Pitch Deck — Week 11</dc:title>
  <dc:subject>PptxGenJS Presentation</dc:subject>
  <dc:creator>Bitcoincierge</dc:creator>
  <cp:lastModifiedBy>Bitcoincierge</cp:lastModifiedBy>
  <cp:revision>1</cp:revision>
  <dcterms:created xsi:type="dcterms:W3CDTF">2026-03-28T06:21:07Z</dcterms:created>
  <dcterms:modified xsi:type="dcterms:W3CDTF">2026-03-28T06:21:07Z</dcterms:modified>
</cp:coreProperties>
</file>